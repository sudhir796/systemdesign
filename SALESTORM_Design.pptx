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5d3d82e4-9ca4-ac83-97be-9c2044e716da}">
          <p14:sldIdLst>
            <p14:sldId id="256"/>
            <p14:sldId id="257"/>
            <p14:sldId id="258"/>
            <p14:sldId id="259"/>
          </p14:sldIdLst>
        </p14:section>
        <p14:section name="Design" id="{f1291247-c6d2-31ef-9ccc-fd727b710bb8}">
          <p14:sldIdLst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19456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SALESTORM  |  SYSCRAFTERS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SALESTORM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194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Designing a flash sale that never oversells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SYSCRAFTERS 2026  |  System Design Hackathon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Team: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Jebarson E  |  Shanthini P  |  Sudhir D  |  Kabil Munishwar S</a:t>
            </a:r>
            <a:endParaRPr lang="en-US" sz="1400" dirty="0"/>
          </a:p>
        </p:txBody>
      </p:sp>
      <p:sp>
        <p:nvSpPr>
          <p:cNvPr id="5" name="stat chip"/>
          <p:cNvSpPr/>
          <p:nvPr/>
        </p:nvSpPr>
        <p:spPr>
          <a:xfrm>
            <a:off x="640080" y="342900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10,000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buyers click Buy Now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926080" y="3931920"/>
            <a:ext cx="5486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stat chip"/>
          <p:cNvSpPr/>
          <p:nvPr/>
        </p:nvSpPr>
        <p:spPr>
          <a:xfrm>
            <a:off x="3566160" y="342900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100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units in stock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852160" y="3931920"/>
            <a:ext cx="5486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stat chip"/>
          <p:cNvSpPr/>
          <p:nvPr/>
        </p:nvSpPr>
        <p:spPr>
          <a:xfrm>
            <a:off x="6492240" y="342900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units oversold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10,000</a:t>
            </a:r>
            <a:endParaRPr lang="en-US" sz="40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customers click Buy Now together</a:t>
            </a:r>
            <a:endParaRPr lang="en-US" sz="4000" dirty="0"/>
          </a:p>
        </p:txBody>
      </p:sp>
      <p:sp>
        <p:nvSpPr>
          <p:cNvPr id="5" name="card"/>
          <p:cNvSpPr/>
          <p:nvPr/>
        </p:nvSpPr>
        <p:spPr>
          <a:xfrm>
            <a:off x="3291840" y="118872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74720" y="11887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100</a:t>
            </a:r>
            <a:endParaRPr lang="en-US" sz="40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units of Product X in stock</a:t>
            </a:r>
            <a:endParaRPr lang="en-US" sz="4000" dirty="0"/>
          </a:p>
        </p:txBody>
      </p:sp>
      <p:sp>
        <p:nvSpPr>
          <p:cNvPr id="7" name="card"/>
          <p:cNvSpPr/>
          <p:nvPr/>
        </p:nvSpPr>
        <p:spPr>
          <a:xfrm>
            <a:off x="6126480" y="118872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1887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0</a:t>
            </a:r>
            <a:endParaRPr lang="en-US" sz="40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units may ever be oversold</a:t>
            </a:r>
            <a:endParaRPr lang="en-US" sz="4000" dirty="0"/>
          </a:p>
        </p:txBody>
      </p:sp>
      <p:sp>
        <p:nvSpPr>
          <p:cNvPr id="9" name="question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697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How can we handle thousands of simultaneous purchase requests for limited inventory without overselling, while keeping payment and order processing reliable?</a:t>
            </a:r>
            <a:endParaRPr lang="en-US" sz="1400" dirty="0"/>
          </a:p>
        </p:txBody>
      </p:sp>
      <p:sp>
        <p:nvSpPr>
          <p:cNvPr id="11" name="node No overselling"/>
          <p:cNvSpPr txBox="1"/>
          <p:nvPr/>
        </p:nvSpPr>
        <p:spPr>
          <a:xfrm>
            <a:off x="457200" y="3840480"/>
            <a:ext cx="19202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 overselling</a:t>
            </a:r>
            <a:endParaRPr lang="en-US" sz="1200" dirty="0"/>
          </a:p>
        </p:txBody>
      </p:sp>
      <p:sp>
        <p:nvSpPr>
          <p:cNvPr id="12" name="node No duplicate charges"/>
          <p:cNvSpPr txBox="1"/>
          <p:nvPr/>
        </p:nvSpPr>
        <p:spPr>
          <a:xfrm>
            <a:off x="2560320" y="3840480"/>
            <a:ext cx="19202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 duplicate charges</a:t>
            </a:r>
            <a:endParaRPr lang="en-US" sz="1200" dirty="0"/>
          </a:p>
        </p:txBody>
      </p:sp>
      <p:sp>
        <p:nvSpPr>
          <p:cNvPr id="13" name="node Release on failure or expiry"/>
          <p:cNvSpPr txBox="1"/>
          <p:nvPr/>
        </p:nvSpPr>
        <p:spPr>
          <a:xfrm>
            <a:off x="4663440" y="3840480"/>
            <a:ext cx="19202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Release on failure or expiry</a:t>
            </a:r>
            <a:endParaRPr lang="en-US" sz="1200" dirty="0"/>
          </a:p>
        </p:txBody>
      </p:sp>
      <p:sp>
        <p:nvSpPr>
          <p:cNvPr id="14" name="node No lost orders"/>
          <p:cNvSpPr txBox="1"/>
          <p:nvPr/>
        </p:nvSpPr>
        <p:spPr>
          <a:xfrm>
            <a:off x="6766560" y="3840480"/>
            <a:ext cx="19202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 lost orders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Functional requirements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Discover and cart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Browse the sale catalogue and add items to a cart.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329184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347472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Reserve stock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828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unit held per buyer for 10 minutes; atomic, never oversold.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12648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30936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Pay once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828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Idempotent payment; retries and timeouts never double-charge.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57200" y="278892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640080" y="29718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Track the order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CREATED to DELIVERED, with only valid state transitions.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3291840" y="278892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3474720" y="29718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Fulfil and notify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Shipment, delivery tracking and customer notifications.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6126480" y="278892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6309360" y="29718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0936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Recover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Release stock on failure or expiry; reconcile unknown payments; retry orders.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Non-functional requirements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3949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Area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Requirement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Consistency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sold + reserved never exceeds stock; no negative quantity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Guarantee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Idempotency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Same key, same result; one payment and one order per reservation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Guarantee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Recoverability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 successful payment always ends in an order (outbox, retry)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Guarantee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Throughput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About 10,000 req/s normally; design for up to 500,000 req/s in the sale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Target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Latency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Reserve p95 under 200 ms at the edge (proposed target)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Target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Availability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99.9% for browse and checkout; graceful degradation (proposed)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Target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Security and ops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HTTPS, auth, rate limiting, audit logs; metrics, tracing, alerts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Target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High-level architecture</a:t>
            </a:r>
            <a:endParaRPr lang="en-US" sz="3400" dirty="0"/>
          </a:p>
        </p:txBody>
      </p:sp>
      <p:sp>
        <p:nvSpPr>
          <p:cNvPr id="3" name="node Customers"/>
          <p:cNvSpPr txBox="1"/>
          <p:nvPr/>
        </p:nvSpPr>
        <p:spPr>
          <a:xfrm>
            <a:off x="457200" y="1188720"/>
            <a:ext cx="1700784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Customers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web and mobile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157984" y="1531620"/>
            <a:ext cx="475488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5" name="node CDN / WAF"/>
          <p:cNvSpPr txBox="1"/>
          <p:nvPr/>
        </p:nvSpPr>
        <p:spPr>
          <a:xfrm>
            <a:off x="2633472" y="1188720"/>
            <a:ext cx="1700784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CDN / WAF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cache, bot and DDoS filter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34256" y="1531620"/>
            <a:ext cx="475488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node Load balancer"/>
          <p:cNvSpPr txBox="1"/>
          <p:nvPr/>
        </p:nvSpPr>
        <p:spPr>
          <a:xfrm>
            <a:off x="4809744" y="1188720"/>
            <a:ext cx="1700784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Load balancer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NGINX, TLS, rate limit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10528" y="1531620"/>
            <a:ext cx="475488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node API gateway"/>
          <p:cNvSpPr txBox="1"/>
          <p:nvPr/>
        </p:nvSpPr>
        <p:spPr>
          <a:xfrm>
            <a:off x="6986016" y="1188720"/>
            <a:ext cx="1700784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API gateway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auth, routing, throttling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36408" y="1874520"/>
            <a:ext cx="0" cy="3200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service band"/>
          <p:cNvSpPr/>
          <p:nvPr/>
        </p:nvSpPr>
        <p:spPr>
          <a:xfrm>
            <a:off x="457200" y="2194560"/>
            <a:ext cx="82296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25856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Stateless service instances, scaled horizontally behind the gateway</a:t>
            </a:r>
            <a:endParaRPr lang="en-US" sz="1000" dirty="0"/>
          </a:p>
        </p:txBody>
      </p:sp>
      <p:sp>
        <p:nvSpPr>
          <p:cNvPr id="13" name="node Product and Cart"/>
          <p:cNvSpPr txBox="1"/>
          <p:nvPr/>
        </p:nvSpPr>
        <p:spPr>
          <a:xfrm>
            <a:off x="640080" y="2578608"/>
            <a:ext cx="118872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Product and Cart</a:t>
            </a:r>
            <a:endParaRPr lang="en-US" sz="1100" dirty="0"/>
          </a:p>
        </p:txBody>
      </p:sp>
      <p:sp>
        <p:nvSpPr>
          <p:cNvPr id="14" name="node Sale"/>
          <p:cNvSpPr txBox="1"/>
          <p:nvPr/>
        </p:nvSpPr>
        <p:spPr>
          <a:xfrm>
            <a:off x="1975104" y="2578608"/>
            <a:ext cx="118872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Sale</a:t>
            </a:r>
            <a:endParaRPr lang="en-US" sz="1100" dirty="0"/>
          </a:p>
        </p:txBody>
      </p:sp>
      <p:sp>
        <p:nvSpPr>
          <p:cNvPr id="15" name="node Inventory and Reservation"/>
          <p:cNvSpPr txBox="1"/>
          <p:nvPr/>
        </p:nvSpPr>
        <p:spPr>
          <a:xfrm>
            <a:off x="3310128" y="2578608"/>
            <a:ext cx="118872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Inventory and Reservation</a:t>
            </a:r>
            <a:endParaRPr lang="en-US" sz="1100" dirty="0"/>
          </a:p>
        </p:txBody>
      </p:sp>
      <p:sp>
        <p:nvSpPr>
          <p:cNvPr id="16" name="node Checkout"/>
          <p:cNvSpPr txBox="1"/>
          <p:nvPr/>
        </p:nvSpPr>
        <p:spPr>
          <a:xfrm>
            <a:off x="4645152" y="2578608"/>
            <a:ext cx="118872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Checkout</a:t>
            </a:r>
            <a:endParaRPr lang="en-US" sz="1100" dirty="0"/>
          </a:p>
        </p:txBody>
      </p:sp>
      <p:sp>
        <p:nvSpPr>
          <p:cNvPr id="17" name="node Payment"/>
          <p:cNvSpPr txBox="1"/>
          <p:nvPr/>
        </p:nvSpPr>
        <p:spPr>
          <a:xfrm>
            <a:off x="5980176" y="2578608"/>
            <a:ext cx="118872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Payment</a:t>
            </a:r>
            <a:endParaRPr lang="en-US" sz="1100" dirty="0"/>
          </a:p>
        </p:txBody>
      </p:sp>
      <p:sp>
        <p:nvSpPr>
          <p:cNvPr id="18" name="node Order"/>
          <p:cNvSpPr txBox="1"/>
          <p:nvPr/>
        </p:nvSpPr>
        <p:spPr>
          <a:xfrm>
            <a:off x="7315200" y="2578608"/>
            <a:ext cx="118872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Order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3474720"/>
            <a:ext cx="0" cy="3200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node Redis"/>
          <p:cNvSpPr txBox="1"/>
          <p:nvPr/>
        </p:nvSpPr>
        <p:spPr>
          <a:xfrm>
            <a:off x="457200" y="3794760"/>
            <a:ext cx="18288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Redis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admission counter, cache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02152" y="3474720"/>
            <a:ext cx="0" cy="3200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node SQL database"/>
          <p:cNvSpPr txBox="1"/>
          <p:nvPr/>
        </p:nvSpPr>
        <p:spPr>
          <a:xfrm>
            <a:off x="2587752" y="3794760"/>
            <a:ext cx="18288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SQL 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inventory, reservations, orders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32704" y="3474720"/>
            <a:ext cx="0" cy="3200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4" name="node Queue and outbox"/>
          <p:cNvSpPr txBox="1"/>
          <p:nvPr/>
        </p:nvSpPr>
        <p:spPr>
          <a:xfrm>
            <a:off x="4718304" y="3794760"/>
            <a:ext cx="18288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Queue and outbox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retries, dead-letter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63256" y="3474720"/>
            <a:ext cx="0" cy="3200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6" name="node External"/>
          <p:cNvSpPr txBox="1"/>
          <p:nvPr/>
        </p:nvSpPr>
        <p:spPr>
          <a:xfrm>
            <a:off x="6848856" y="3794760"/>
            <a:ext cx="18288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External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payment gateway, shipping, SMS/email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Database design (ER diagram)</a:t>
            </a:r>
            <a:endParaRPr lang="en-US" sz="3400" dirty="0"/>
          </a:p>
        </p:txBody>
      </p:sp>
      <p:sp>
        <p:nvSpPr>
          <p:cNvPr id="3" name="CUSTOMER body"/>
          <p:cNvSpPr/>
          <p:nvPr/>
        </p:nvSpPr>
        <p:spPr>
          <a:xfrm>
            <a:off x="457200" y="1143000"/>
            <a:ext cx="1828800" cy="89611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CUSTOMER header"/>
          <p:cNvSpPr txBox="1"/>
          <p:nvPr/>
        </p:nvSpPr>
        <p:spPr>
          <a:xfrm>
            <a:off x="457200" y="1143000"/>
            <a:ext cx="1828800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CUSTOMER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444752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customer_id  PK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name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email</a:t>
            </a:r>
            <a:endParaRPr lang="en-US" sz="1000" dirty="0"/>
          </a:p>
        </p:txBody>
      </p:sp>
      <p:sp>
        <p:nvSpPr>
          <p:cNvPr id="6" name="ORDERS body"/>
          <p:cNvSpPr/>
          <p:nvPr/>
        </p:nvSpPr>
        <p:spPr>
          <a:xfrm>
            <a:off x="457200" y="2331720"/>
            <a:ext cx="1828800" cy="107899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ORDERS header"/>
          <p:cNvSpPr txBox="1"/>
          <p:nvPr/>
        </p:nvSpPr>
        <p:spPr>
          <a:xfrm>
            <a:off x="457200" y="2331720"/>
            <a:ext cx="1828800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ORDERS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633472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order_id  PK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reservation_id  FK, UQ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customer_id  FK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status</a:t>
            </a:r>
            <a:endParaRPr lang="en-US" sz="1000" dirty="0"/>
          </a:p>
        </p:txBody>
      </p:sp>
      <p:sp>
        <p:nvSpPr>
          <p:cNvPr id="9" name="OUTBOX_EVENT body"/>
          <p:cNvSpPr/>
          <p:nvPr/>
        </p:nvSpPr>
        <p:spPr>
          <a:xfrm>
            <a:off x="457200" y="3639312"/>
            <a:ext cx="1828800" cy="89611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OUTBOX_EVENT header"/>
          <p:cNvSpPr txBox="1"/>
          <p:nvPr/>
        </p:nvSpPr>
        <p:spPr>
          <a:xfrm>
            <a:off x="457200" y="3639312"/>
            <a:ext cx="1828800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OUTBOX_EVENT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3941064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event_id  PK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type, payload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status, attempts</a:t>
            </a:r>
            <a:endParaRPr lang="en-US" sz="1000" dirty="0"/>
          </a:p>
        </p:txBody>
      </p:sp>
      <p:sp>
        <p:nvSpPr>
          <p:cNvPr id="12" name="INVENTORY_RESERVATION body"/>
          <p:cNvSpPr/>
          <p:nvPr/>
        </p:nvSpPr>
        <p:spPr>
          <a:xfrm>
            <a:off x="2587752" y="1143000"/>
            <a:ext cx="1828800" cy="144475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INVENTORY_RESERVATION header"/>
          <p:cNvSpPr txBox="1"/>
          <p:nvPr/>
        </p:nvSpPr>
        <p:spPr>
          <a:xfrm>
            <a:off x="2587752" y="1143000"/>
            <a:ext cx="1828800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INVENTORY_RESERVATION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660904" y="1444752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reservation_id  PK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product_id  FK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customer_id  FK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idempotency_key  UQ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status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expires_at</a:t>
            </a:r>
            <a:endParaRPr lang="en-US" sz="1000" dirty="0"/>
          </a:p>
        </p:txBody>
      </p:sp>
      <p:sp>
        <p:nvSpPr>
          <p:cNvPr id="15" name="PAYMENT body"/>
          <p:cNvSpPr/>
          <p:nvPr/>
        </p:nvSpPr>
        <p:spPr>
          <a:xfrm>
            <a:off x="2587752" y="3017520"/>
            <a:ext cx="1828800" cy="126187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PAYMENT header"/>
          <p:cNvSpPr txBox="1"/>
          <p:nvPr/>
        </p:nvSpPr>
        <p:spPr>
          <a:xfrm>
            <a:off x="2587752" y="3017520"/>
            <a:ext cx="1828800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PAYMENT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660904" y="3319272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payment_id  PK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reservation_id  FK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idempotency_key  UQ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status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gateway_ref</a:t>
            </a:r>
            <a:endParaRPr lang="en-US" sz="1000" dirty="0"/>
          </a:p>
        </p:txBody>
      </p:sp>
      <p:sp>
        <p:nvSpPr>
          <p:cNvPr id="18" name="PRODUCT body"/>
          <p:cNvSpPr/>
          <p:nvPr/>
        </p:nvSpPr>
        <p:spPr>
          <a:xfrm>
            <a:off x="4718304" y="1143000"/>
            <a:ext cx="1828800" cy="89611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PRODUCT header"/>
          <p:cNvSpPr txBox="1"/>
          <p:nvPr/>
        </p:nvSpPr>
        <p:spPr>
          <a:xfrm>
            <a:off x="4718304" y="1143000"/>
            <a:ext cx="1828800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PRODUCT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791456" y="1444752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product_id  PK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name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price</a:t>
            </a:r>
            <a:endParaRPr lang="en-US" sz="1000" dirty="0"/>
          </a:p>
        </p:txBody>
      </p:sp>
      <p:sp>
        <p:nvSpPr>
          <p:cNvPr id="21" name="INVENTORY body"/>
          <p:cNvSpPr/>
          <p:nvPr/>
        </p:nvSpPr>
        <p:spPr>
          <a:xfrm>
            <a:off x="4718304" y="2331720"/>
            <a:ext cx="1828800" cy="144475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INVENTORY header"/>
          <p:cNvSpPr txBox="1"/>
          <p:nvPr/>
        </p:nvSpPr>
        <p:spPr>
          <a:xfrm>
            <a:off x="4718304" y="2331720"/>
            <a:ext cx="1828800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INVENTORY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791456" y="2633472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inventory_id  PK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product_id  FK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available_qty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reserved_qty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sold_qty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version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1600200"/>
            <a:ext cx="30175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249424" y="1371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1:N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16552" y="1600200"/>
            <a:ext cx="30175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79976" y="1371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1:N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71600" y="2039112"/>
            <a:ext cx="0" cy="29260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444752" y="21122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1:N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flipH="1">
            <a:off x="2286000" y="2468880"/>
            <a:ext cx="30175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249424" y="22402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1:1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02152" y="2587752"/>
            <a:ext cx="0" cy="42976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75304" y="27249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1:N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32704" y="2039112"/>
            <a:ext cx="0" cy="29260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705856" y="21122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1:1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 flipV="1">
            <a:off x="1371600" y="3410712"/>
            <a:ext cx="0" cy="22860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1444752" y="3456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creates</a:t>
            </a:r>
            <a:endParaRPr lang="en-US" sz="1000" dirty="0"/>
          </a:p>
        </p:txBody>
      </p:sp>
      <p:sp>
        <p:nvSpPr>
          <p:cNvPr id="38" name="card"/>
          <p:cNvSpPr/>
          <p:nvPr/>
        </p:nvSpPr>
        <p:spPr>
          <a:xfrm>
            <a:off x="6848856" y="1143000"/>
            <a:ext cx="18288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67728" y="1143000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PK  primary 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FK  foreign 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UQ  unique</a:t>
            </a:r>
            <a:endParaRPr lang="en-US" sz="1000" dirty="0"/>
          </a:p>
        </p:txBody>
      </p:sp>
      <p:sp>
        <p:nvSpPr>
          <p:cNvPr id="40" name="card"/>
          <p:cNvSpPr/>
          <p:nvPr/>
        </p:nvSpPr>
        <p:spPr>
          <a:xfrm>
            <a:off x="6848856" y="2331720"/>
            <a:ext cx="18288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67728" y="2395728"/>
            <a:ext cx="1627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Key constraints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available + reserved + sold = total stock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UNIQUE idempotency_key on reserve and pay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UNIQUE orders.reservation_id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Index on (status, expires_at) for expiry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State diagrams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Reservation lifecycle</a:t>
            </a:r>
            <a:endParaRPr lang="en-US" sz="1000" dirty="0"/>
          </a:p>
        </p:txBody>
      </p:sp>
      <p:sp>
        <p:nvSpPr>
          <p:cNvPr id="4" name="node RESERVED"/>
          <p:cNvSpPr txBox="1"/>
          <p:nvPr/>
        </p:nvSpPr>
        <p:spPr>
          <a:xfrm>
            <a:off x="457200" y="1463040"/>
            <a:ext cx="1700784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RESERVED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57984" y="1760220"/>
            <a:ext cx="475488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6" name="node PAYMENT_PENDING"/>
          <p:cNvSpPr txBox="1"/>
          <p:nvPr/>
        </p:nvSpPr>
        <p:spPr>
          <a:xfrm>
            <a:off x="2633472" y="1463040"/>
            <a:ext cx="1700784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PAYMENT_PENDING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34256" y="1760220"/>
            <a:ext cx="475488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8" name="node CONFIRMED"/>
          <p:cNvSpPr txBox="1"/>
          <p:nvPr/>
        </p:nvSpPr>
        <p:spPr>
          <a:xfrm>
            <a:off x="4809744" y="1463040"/>
            <a:ext cx="1700784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CONFIRMED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10528" y="1760220"/>
            <a:ext cx="475488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0" name="node SOLD (stock counter)"/>
          <p:cNvSpPr txBox="1"/>
          <p:nvPr/>
        </p:nvSpPr>
        <p:spPr>
          <a:xfrm>
            <a:off x="6986016" y="1463040"/>
            <a:ext cx="1700784" cy="594360"/>
          </a:xfrm>
          <a:prstGeom prst="roundRect">
            <a:avLst>
              <a:gd name="adj" fmla="val 12308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SOLD (stock counter)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07592" y="2057400"/>
            <a:ext cx="0" cy="45720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1399032" y="21762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hold timed out</a:t>
            </a:r>
            <a:endParaRPr lang="en-US" sz="1000" dirty="0"/>
          </a:p>
        </p:txBody>
      </p:sp>
      <p:sp>
        <p:nvSpPr>
          <p:cNvPr id="13" name="node EXPIRED"/>
          <p:cNvSpPr txBox="1"/>
          <p:nvPr/>
        </p:nvSpPr>
        <p:spPr>
          <a:xfrm>
            <a:off x="457200" y="2514600"/>
            <a:ext cx="1700784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EXPIRED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unit returns to available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83864" y="2057400"/>
            <a:ext cx="0" cy="45720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575304" y="21762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payment failed</a:t>
            </a:r>
            <a:endParaRPr lang="en-US" sz="1000" dirty="0"/>
          </a:p>
        </p:txBody>
      </p:sp>
      <p:sp>
        <p:nvSpPr>
          <p:cNvPr id="16" name="node RELEASED"/>
          <p:cNvSpPr txBox="1"/>
          <p:nvPr/>
        </p:nvSpPr>
        <p:spPr>
          <a:xfrm>
            <a:off x="2633472" y="2514600"/>
            <a:ext cx="1700784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RELEASED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unit returns to available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Order lifecycle</a:t>
            </a:r>
            <a:endParaRPr lang="en-US" sz="1000" dirty="0"/>
          </a:p>
        </p:txBody>
      </p:sp>
      <p:sp>
        <p:nvSpPr>
          <p:cNvPr id="18" name="node CREATED"/>
          <p:cNvSpPr txBox="1"/>
          <p:nvPr/>
        </p:nvSpPr>
        <p:spPr>
          <a:xfrm>
            <a:off x="457200" y="3657600"/>
            <a:ext cx="1024128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CREATED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81328" y="3977640"/>
            <a:ext cx="17373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node PAYMENT_ PENDING"/>
          <p:cNvSpPr txBox="1"/>
          <p:nvPr/>
        </p:nvSpPr>
        <p:spPr>
          <a:xfrm>
            <a:off x="1655064" y="3657600"/>
            <a:ext cx="1024128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PAYMENT_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PENDING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79192" y="3977640"/>
            <a:ext cx="17373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node CONFIRMED"/>
          <p:cNvSpPr txBox="1"/>
          <p:nvPr/>
        </p:nvSpPr>
        <p:spPr>
          <a:xfrm>
            <a:off x="2852928" y="3657600"/>
            <a:ext cx="1024128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CONFIRMED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77056" y="3977640"/>
            <a:ext cx="17373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4" name="node PROCESSING"/>
          <p:cNvSpPr txBox="1"/>
          <p:nvPr/>
        </p:nvSpPr>
        <p:spPr>
          <a:xfrm>
            <a:off x="4050792" y="3657600"/>
            <a:ext cx="1024128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74920" y="3977640"/>
            <a:ext cx="17373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6" name="node SHIPPED"/>
          <p:cNvSpPr txBox="1"/>
          <p:nvPr/>
        </p:nvSpPr>
        <p:spPr>
          <a:xfrm>
            <a:off x="5248656" y="3657600"/>
            <a:ext cx="1024128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SHIPPED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72784" y="3977640"/>
            <a:ext cx="17373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8" name="node OUT_FOR_ DELIVERY"/>
          <p:cNvSpPr txBox="1"/>
          <p:nvPr/>
        </p:nvSpPr>
        <p:spPr>
          <a:xfrm>
            <a:off x="6446520" y="3657600"/>
            <a:ext cx="1024128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OUT_FOR_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DELIVERY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70648" y="3977640"/>
            <a:ext cx="17373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0" name="node DELIVERED"/>
          <p:cNvSpPr txBox="1"/>
          <p:nvPr/>
        </p:nvSpPr>
        <p:spPr>
          <a:xfrm>
            <a:off x="7644384" y="3657600"/>
            <a:ext cx="1024128" cy="64008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DELIVERED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Purchase flow: reserve, pay, order</a:t>
            </a:r>
            <a:endParaRPr lang="en-US" sz="3400" dirty="0"/>
          </a:p>
        </p:txBody>
      </p:sp>
      <p:sp>
        <p:nvSpPr>
          <p:cNvPr id="3" name="node Customer"/>
          <p:cNvSpPr txBox="1"/>
          <p:nvPr/>
        </p:nvSpPr>
        <p:spPr>
          <a:xfrm>
            <a:off x="411480" y="1097280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Customer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97280" y="1463040"/>
            <a:ext cx="0" cy="260604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5" name="node API Gateway"/>
          <p:cNvSpPr txBox="1"/>
          <p:nvPr/>
        </p:nvSpPr>
        <p:spPr>
          <a:xfrm>
            <a:off x="2057400" y="1097280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API Gateway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463040"/>
            <a:ext cx="0" cy="260604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7" name="node Inventory Svc"/>
          <p:cNvSpPr txBox="1"/>
          <p:nvPr/>
        </p:nvSpPr>
        <p:spPr>
          <a:xfrm>
            <a:off x="3703320" y="1097280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Inventory Svc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0" cy="260604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9" name="node Payment Svc"/>
          <p:cNvSpPr txBox="1"/>
          <p:nvPr/>
        </p:nvSpPr>
        <p:spPr>
          <a:xfrm>
            <a:off x="5349240" y="1097280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Payment Svc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0" cy="260604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1" name="node Order Svc"/>
          <p:cNvSpPr txBox="1"/>
          <p:nvPr/>
        </p:nvSpPr>
        <p:spPr>
          <a:xfrm>
            <a:off x="6995160" y="1097280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Order Svc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1463040"/>
            <a:ext cx="0" cy="260604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097280" y="1828800"/>
            <a:ext cx="16459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051560" y="1618488"/>
            <a:ext cx="1737360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POST /reserve + key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2176272"/>
            <a:ext cx="16459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697480" y="1965960"/>
            <a:ext cx="1737360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atomic UPDATE (available &gt; 0)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flipH="1">
            <a:off x="1097280" y="2523744"/>
            <a:ext cx="329184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1097280" y="2313432"/>
            <a:ext cx="3291840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201 reservation_id  |  409 SOLD_OUT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97280" y="2871216"/>
            <a:ext cx="16459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1051560" y="2660904"/>
            <a:ext cx="1737360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POST /pay + key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0" y="3218688"/>
            <a:ext cx="32918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2743200" y="3008376"/>
            <a:ext cx="3291840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charge once per idempotency key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H="1">
            <a:off x="4389120" y="3566160"/>
            <a:ext cx="16459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343400" y="3355848"/>
            <a:ext cx="1737360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reserved to sold + outbox event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3913632"/>
            <a:ext cx="16459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989320" y="3703320"/>
            <a:ext cx="1737360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ORDER_REQUESTED (retried)</a:t>
            </a:r>
            <a:endParaRPr lang="en-US" sz="1000" dirty="0"/>
          </a:p>
        </p:txBody>
      </p:sp>
      <p:sp>
        <p:nvSpPr>
          <p:cNvPr id="27" name="failure strip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Failure paths: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payment fails or hold expires, so the unit is released. Order Svc down, so the outbox retries until the order exists.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estorm">
  <a:themeElements>
    <a:clrScheme name="Salestorm">
      <a:dk1>
        <a:srgbClr val="111827"/>
      </a:dk1>
      <a:lt1>
        <a:srgbClr val="FFFFFF"/>
      </a:lt1>
      <a:dk2>
        <a:srgbClr val="1E2A4A"/>
      </a:dk2>
      <a:lt2>
        <a:srgbClr val="F1F3F7"/>
      </a:lt2>
      <a:accent1>
        <a:srgbClr val="F59E0B"/>
      </a:accent1>
      <a:accent2>
        <a:srgbClr val="0F9D9A"/>
      </a:accent2>
      <a:accent3>
        <a:srgbClr val="DC2650"/>
      </a:accent3>
      <a:accent4>
        <a:srgbClr val="5B6477"/>
      </a:accent4>
      <a:accent5>
        <a:srgbClr val="3B6FD8"/>
      </a:accent5>
      <a:accent6>
        <a:srgbClr val="2F9E5B"/>
      </a:accent6>
      <a:hlink>
        <a:srgbClr val="3B6FD8"/>
      </a:hlink>
      <a:folHlink>
        <a:srgbClr val="5B6477"/>
      </a:folHlink>
    </a:clrScheme>
    <a:fontScheme name="Salestor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SALESTORM - Flash Sale System Design</dc:title>
  <dc:subject>PptxGenJS Presentation</dc:subject>
  <dc:creator>PptxGenJS</dc:creator>
  <cp:lastModifiedBy>PptxGenJS</cp:lastModifiedBy>
  <cp:revision>1</cp:revision>
  <dcterms:created xsi:type="dcterms:W3CDTF">2026-10-09T03:48:44Z</dcterms:created>
  <dcterms:modified xsi:type="dcterms:W3CDTF">2026-10-09T03:48:44Z</dcterms:modified>
</cp:coreProperties>
</file>